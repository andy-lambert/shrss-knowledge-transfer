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6" r:id="rId4"/>
  </p:sldMasterIdLst>
  <p:notesMasterIdLst>
    <p:notesMasterId r:id="rId24"/>
  </p:notesMasterIdLst>
  <p:handoutMasterIdLst>
    <p:handoutMasterId r:id="rId25"/>
  </p:handoutMasterIdLst>
  <p:sldIdLst>
    <p:sldId id="273" r:id="rId5"/>
    <p:sldId id="300" r:id="rId6"/>
    <p:sldId id="301" r:id="rId7"/>
    <p:sldId id="302" r:id="rId8"/>
    <p:sldId id="304" r:id="rId9"/>
    <p:sldId id="305" r:id="rId10"/>
    <p:sldId id="307" r:id="rId11"/>
    <p:sldId id="308" r:id="rId12"/>
    <p:sldId id="309" r:id="rId13"/>
    <p:sldId id="310" r:id="rId14"/>
    <p:sldId id="318" r:id="rId15"/>
    <p:sldId id="312" r:id="rId16"/>
    <p:sldId id="311" r:id="rId17"/>
    <p:sldId id="314" r:id="rId18"/>
    <p:sldId id="313" r:id="rId19"/>
    <p:sldId id="315" r:id="rId20"/>
    <p:sldId id="316" r:id="rId21"/>
    <p:sldId id="317" r:id="rId22"/>
    <p:sldId id="278" r:id="rId23"/>
  </p:sldIdLst>
  <p:sldSz cx="12188825" cy="6858000"/>
  <p:notesSz cx="6858000" cy="9144000"/>
  <p:custDataLst>
    <p:tags r:id="rId2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3">
          <p15:clr>
            <a:srgbClr val="A4A3A4"/>
          </p15:clr>
        </p15:guide>
        <p15:guide id="2" orient="horz" pos="490">
          <p15:clr>
            <a:srgbClr val="A4A3A4"/>
          </p15:clr>
        </p15:guide>
        <p15:guide id="3" pos="3839">
          <p15:clr>
            <a:srgbClr val="A4A3A4"/>
          </p15:clr>
        </p15:guide>
        <p15:guide id="4" orient="horz" pos="14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699E"/>
    <a:srgbClr val="01598C"/>
    <a:srgbClr val="B7CFFF"/>
    <a:srgbClr val="E7F8FF"/>
    <a:srgbClr val="7797A1"/>
    <a:srgbClr val="83C937"/>
    <a:srgbClr val="00A7EA"/>
    <a:srgbClr val="D0DBDE"/>
    <a:srgbClr val="D2DDE0"/>
    <a:srgbClr val="729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386"/>
    <p:restoredTop sz="95048"/>
  </p:normalViewPr>
  <p:slideViewPr>
    <p:cSldViewPr snapToGrid="0">
      <p:cViewPr>
        <p:scale>
          <a:sx n="140" d="100"/>
          <a:sy n="140" d="100"/>
        </p:scale>
        <p:origin x="1992" y="144"/>
      </p:cViewPr>
      <p:guideLst>
        <p:guide orient="horz" pos="4063"/>
        <p:guide orient="horz" pos="490"/>
        <p:guide pos="3839"/>
        <p:guide orient="horz" pos="14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EE567-80D6-42C6-844A-F0F6714FC972}" type="datetimeFigureOut">
              <a:rPr lang="en-US" smtClean="0"/>
              <a:pPr/>
              <a:t>6/12/20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3C794B-268C-4A67-8C2B-68C4E4A2A7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99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A3B128-E09D-491C-B840-DB8C264A8EFA}" type="datetimeFigureOut">
              <a:rPr lang="en-US" smtClean="0"/>
              <a:pPr/>
              <a:t>6/12/20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2277D-4E65-471B-8FDC-312617F5EA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3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14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468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221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505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2175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001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497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40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75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763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1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955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2277D-4E65-471B-8FDC-312617F5EA89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703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0138" cy="6856952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-3706" y="1303020"/>
            <a:ext cx="12192531" cy="1165860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82" y="-2359"/>
            <a:ext cx="417909" cy="685750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41182" y="1463975"/>
            <a:ext cx="10918220" cy="492443"/>
          </a:xfr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dobe Clean Light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41182" y="1990491"/>
            <a:ext cx="10918220" cy="328295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2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4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4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53742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-3706" y="1303020"/>
            <a:ext cx="12192531" cy="1165860"/>
          </a:xfrm>
          <a:prstGeom prst="rect">
            <a:avLst/>
          </a:prstGeom>
          <a:solidFill>
            <a:schemeClr val="bg1"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641182" y="1463975"/>
            <a:ext cx="10918220" cy="492443"/>
          </a:xfrm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dobe Clean Light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641182" y="1993392"/>
            <a:ext cx="10918220" cy="328295"/>
          </a:xfrm>
        </p:spPr>
        <p:txBody>
          <a:bodyPr wrap="square" lIns="0" tIns="0" rIns="0" bIns="0">
            <a:spAutoFit/>
          </a:bodyPr>
          <a:lstStyle>
            <a:lvl1pPr marL="0" indent="0" algn="l">
              <a:buNone/>
              <a:defRPr sz="2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4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882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324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765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207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64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090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531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82" y="-2359"/>
            <a:ext cx="417909" cy="6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09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hite - Top &amp;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3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White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12192002" cy="64420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White -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lang="en-US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lang="en-U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9" name="Rectangle 21"/>
          <p:cNvSpPr>
            <a:spLocks noChangeArrowheads="1"/>
          </p:cNvSpPr>
          <p:nvPr userDrawn="1"/>
        </p:nvSpPr>
        <p:spPr bwMode="auto">
          <a:xfrm>
            <a:off x="304720" y="6487239"/>
            <a:ext cx="5181679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r>
              <a:rPr lang="en-US" sz="700">
                <a:solidFill>
                  <a:schemeClr val="tx1">
                    <a:lumMod val="75000"/>
                    <a:lumOff val="25000"/>
                  </a:schemeClr>
                </a:solidFill>
                <a:latin typeface="Adobe Clean" pitchFamily="-111" charset="0"/>
              </a:rPr>
              <a:t>© 2020 Adobe.  All Rights Reserved.  Adobe Confidential.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697" y="6528875"/>
            <a:ext cx="187408" cy="25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83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y - Top &amp;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5"/>
          <p:cNvSpPr>
            <a:spLocks noChangeArrowheads="1"/>
          </p:cNvSpPr>
          <p:nvPr userDrawn="1"/>
        </p:nvSpPr>
        <p:spPr bwMode="auto">
          <a:xfrm>
            <a:off x="0" y="225630"/>
            <a:ext cx="12188825" cy="6216734"/>
          </a:xfrm>
          <a:prstGeom prst="rect">
            <a:avLst/>
          </a:prstGeom>
          <a:solidFill>
            <a:srgbClr val="5D676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46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y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0"/>
            <a:ext cx="12192002" cy="6442076"/>
          </a:xfrm>
          <a:prstGeom prst="rect">
            <a:avLst/>
          </a:prstGeom>
          <a:solidFill>
            <a:srgbClr val="5D676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2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Gray -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0"/>
            <a:ext cx="12188825" cy="6858000"/>
          </a:xfrm>
          <a:prstGeom prst="rect">
            <a:avLst/>
          </a:prstGeom>
          <a:solidFill>
            <a:srgbClr val="5D676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697" y="6528875"/>
            <a:ext cx="187408" cy="258055"/>
          </a:xfrm>
          <a:prstGeom prst="rect">
            <a:avLst/>
          </a:prstGeom>
        </p:spPr>
      </p:pic>
      <p:sp>
        <p:nvSpPr>
          <p:cNvPr id="10" name="Rectangle 21"/>
          <p:cNvSpPr>
            <a:spLocks noChangeArrowheads="1"/>
          </p:cNvSpPr>
          <p:nvPr userDrawn="1"/>
        </p:nvSpPr>
        <p:spPr bwMode="auto">
          <a:xfrm>
            <a:off x="304720" y="6487239"/>
            <a:ext cx="5181679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r>
              <a:rPr lang="en-US" sz="700">
                <a:solidFill>
                  <a:srgbClr val="FFFFFF"/>
                </a:solidFill>
                <a:latin typeface="Adobe Clean" pitchFamily="-111" charset="0"/>
              </a:rPr>
              <a:t>© 2020 Adobe.  All Rights Reserved. 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83399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ck - Top &amp;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0" y="225630"/>
            <a:ext cx="12188825" cy="6216734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3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ck - Bottom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5"/>
          <p:cNvSpPr>
            <a:spLocks noChangeArrowheads="1"/>
          </p:cNvSpPr>
          <p:nvPr userDrawn="1"/>
        </p:nvSpPr>
        <p:spPr bwMode="auto">
          <a:xfrm>
            <a:off x="0" y="0"/>
            <a:ext cx="12188825" cy="6442364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7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ck - No 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0"/>
            <a:ext cx="12188825" cy="6858000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8D6CA-D4AF-4FDC-9641-A8569C957DEB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697" y="6528875"/>
            <a:ext cx="187408" cy="258055"/>
          </a:xfrm>
          <a:prstGeom prst="rect">
            <a:avLst/>
          </a:prstGeom>
        </p:spPr>
      </p:pic>
      <p:sp>
        <p:nvSpPr>
          <p:cNvPr id="10" name="Rectangle 21"/>
          <p:cNvSpPr>
            <a:spLocks noChangeArrowheads="1"/>
          </p:cNvSpPr>
          <p:nvPr userDrawn="1"/>
        </p:nvSpPr>
        <p:spPr bwMode="auto">
          <a:xfrm>
            <a:off x="304720" y="6487239"/>
            <a:ext cx="5181679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r>
              <a:rPr lang="en-US" sz="700">
                <a:solidFill>
                  <a:srgbClr val="FFFFFF"/>
                </a:solidFill>
                <a:latin typeface="Adobe Clean" pitchFamily="-111" charset="0"/>
              </a:rPr>
              <a:t>© 2020 Adobe.  All Rights Reserved.  Adobe Confidential.</a:t>
            </a:r>
          </a:p>
        </p:txBody>
      </p:sp>
    </p:spTree>
    <p:extLst>
      <p:ext uri="{BB962C8B-B14F-4D97-AF65-F5344CB8AC3E}">
        <p14:creationId xmlns:p14="http://schemas.microsoft.com/office/powerpoint/2010/main" val="698017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ay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0"/>
            <a:ext cx="12188825" cy="6858000"/>
          </a:xfrm>
          <a:prstGeom prst="rect">
            <a:avLst/>
          </a:prstGeom>
          <a:solidFill>
            <a:srgbClr val="5D676A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7967" y="2449523"/>
            <a:ext cx="1412888" cy="19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788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522" y="2447346"/>
            <a:ext cx="1414469" cy="1947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6990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120"/>
          <a:stretch/>
        </p:blipFill>
        <p:spPr>
          <a:xfrm>
            <a:off x="-63" y="858"/>
            <a:ext cx="12188949" cy="6863768"/>
          </a:xfrm>
          <a:prstGeom prst="rect">
            <a:avLst/>
          </a:prstGeom>
        </p:spPr>
      </p:pic>
      <p:sp>
        <p:nvSpPr>
          <p:cNvPr id="17" name="Rectangle 16"/>
          <p:cNvSpPr/>
          <p:nvPr userDrawn="1"/>
        </p:nvSpPr>
        <p:spPr bwMode="auto">
          <a:xfrm>
            <a:off x="-1" y="6442911"/>
            <a:ext cx="12188826" cy="415089"/>
          </a:xfrm>
          <a:prstGeom prst="rect">
            <a:avLst/>
          </a:prstGeom>
          <a:gradFill>
            <a:gsLst>
              <a:gs pos="49000">
                <a:schemeClr val="tx1">
                  <a:alpha val="20000"/>
                </a:schemeClr>
              </a:gs>
              <a:gs pos="0">
                <a:schemeClr val="tx1">
                  <a:alpha val="26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29" tIns="54414" rIns="108829" bIns="54414" anchor="ctr"/>
          <a:lstStyle/>
          <a:p>
            <a:pPr algn="ctr"/>
            <a:endParaRPr lang="en-US" b="0" i="0" u="none">
              <a:solidFill>
                <a:srgbClr val="FFFFFF"/>
              </a:solidFill>
              <a:ea typeface="ＭＳ Ｐゴシック" pitchFamily="-111" charset="-128"/>
            </a:endParaRPr>
          </a:p>
        </p:txBody>
      </p:sp>
      <p:sp>
        <p:nvSpPr>
          <p:cNvPr id="12" name="Rectangle 5"/>
          <p:cNvSpPr>
            <a:spLocks noChangeArrowheads="1"/>
          </p:cNvSpPr>
          <p:nvPr userDrawn="1"/>
        </p:nvSpPr>
        <p:spPr bwMode="auto">
          <a:xfrm>
            <a:off x="0" y="225630"/>
            <a:ext cx="12188825" cy="6216734"/>
          </a:xfrm>
          <a:prstGeom prst="rect">
            <a:avLst/>
          </a:prstGeom>
          <a:solidFill>
            <a:schemeClr val="bg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 defTabSz="825500"/>
            <a:endParaRPr lang="en-US" sz="3600">
              <a:solidFill>
                <a:srgbClr val="FFFFFF"/>
              </a:solidFill>
              <a:latin typeface="+mj-lt"/>
              <a:ea typeface="+mj-ea"/>
              <a:cs typeface="+mj-cs"/>
              <a:sym typeface="Helvetica Light"/>
            </a:endParaRP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6697" y="6528875"/>
            <a:ext cx="187408" cy="258055"/>
          </a:xfrm>
          <a:prstGeom prst="rect">
            <a:avLst/>
          </a:prstGeom>
        </p:spPr>
      </p:pic>
      <p:sp>
        <p:nvSpPr>
          <p:cNvPr id="9" name="Rectangle 21"/>
          <p:cNvSpPr>
            <a:spLocks noChangeArrowheads="1"/>
          </p:cNvSpPr>
          <p:nvPr userDrawn="1"/>
        </p:nvSpPr>
        <p:spPr bwMode="auto">
          <a:xfrm>
            <a:off x="304720" y="6487239"/>
            <a:ext cx="5181679" cy="1077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b">
            <a:spAutoFit/>
          </a:bodyPr>
          <a:lstStyle/>
          <a:p>
            <a:r>
              <a:rPr lang="en-US" sz="700">
                <a:solidFill>
                  <a:srgbClr val="FFFFFF"/>
                </a:solidFill>
                <a:latin typeface="Adobe Clean" pitchFamily="-111" charset="0"/>
              </a:rPr>
              <a:t>© 2020 Adobe.  All Rights Reserved.  Adobe Confidential.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86545" y="6629400"/>
            <a:ext cx="1015735" cy="168274"/>
          </a:xfrm>
          <a:prstGeom prst="rect">
            <a:avLst/>
          </a:prstGeom>
        </p:spPr>
        <p:txBody>
          <a:bodyPr vert="horz" lIns="108829" tIns="54414" rIns="108829" bIns="54414" rtlCol="0" anchor="ctr"/>
          <a:lstStyle>
            <a:lvl1pPr algn="ctr">
              <a:defRPr sz="800">
                <a:solidFill>
                  <a:schemeClr val="bg1"/>
                </a:solidFill>
              </a:defRPr>
            </a:lvl1pPr>
          </a:lstStyle>
          <a:p>
            <a:fld id="{3AB78257-7A7E-4BBC-BB44-767E213B120F}" type="datetime1">
              <a:rPr lang="en-US" smtClean="0"/>
              <a:pPr/>
              <a:t>6/12/20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1441" y="6629400"/>
            <a:ext cx="5203530" cy="168274"/>
          </a:xfrm>
          <a:prstGeom prst="rect">
            <a:avLst/>
          </a:prstGeom>
        </p:spPr>
        <p:txBody>
          <a:bodyPr vert="horz" lIns="0" tIns="54414" rIns="108829" bIns="54414" rtlCol="0" anchor="ctr"/>
          <a:lstStyle>
            <a:lvl1pPr algn="l">
              <a:defRPr sz="8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86545" y="6477000"/>
            <a:ext cx="1015735" cy="168274"/>
          </a:xfrm>
          <a:prstGeom prst="rect">
            <a:avLst/>
          </a:prstGeom>
        </p:spPr>
        <p:txBody>
          <a:bodyPr vert="horz" lIns="108829" tIns="54414" rIns="108829" bIns="54414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pPr algn="ctr"/>
            <a:fld id="{90156F56-D5AE-4C6F-B826-C69D1BC521BB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  <a:prstGeom prst="rect">
            <a:avLst/>
          </a:prstGeom>
        </p:spPr>
        <p:txBody>
          <a:bodyPr vert="horz" lIns="108829" tIns="54414" rIns="108829" bIns="54414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721" y="1143000"/>
            <a:ext cx="11579384" cy="5029200"/>
          </a:xfrm>
          <a:prstGeom prst="rect">
            <a:avLst/>
          </a:prstGeom>
        </p:spPr>
        <p:txBody>
          <a:bodyPr vert="horz" lIns="108829" tIns="54414" rIns="108829" bIns="5441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Rectangle 14"/>
          <p:cNvSpPr/>
          <p:nvPr userDrawn="1"/>
        </p:nvSpPr>
        <p:spPr bwMode="auto">
          <a:xfrm rot="10800000">
            <a:off x="-1" y="-1"/>
            <a:ext cx="12188826" cy="225424"/>
          </a:xfrm>
          <a:prstGeom prst="rect">
            <a:avLst/>
          </a:prstGeom>
          <a:gradFill>
            <a:gsLst>
              <a:gs pos="49000">
                <a:schemeClr val="tx1">
                  <a:alpha val="0"/>
                </a:schemeClr>
              </a:gs>
              <a:gs pos="0">
                <a:schemeClr val="tx1">
                  <a:alpha val="26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829" tIns="54414" rIns="108829" bIns="54414" anchor="ctr"/>
          <a:lstStyle/>
          <a:p>
            <a:pPr algn="ctr"/>
            <a:endParaRPr lang="en-US" b="0" i="0" u="none">
              <a:solidFill>
                <a:srgbClr val="FFFFFF"/>
              </a:solidFill>
              <a:ea typeface="ＭＳ Ｐゴシック" pitchFamily="-111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7" r:id="rId2"/>
    <p:sldLayoutId id="2147483678" r:id="rId3"/>
    <p:sldLayoutId id="2147483658" r:id="rId4"/>
    <p:sldLayoutId id="2147483681" r:id="rId5"/>
    <p:sldLayoutId id="2147483679" r:id="rId6"/>
    <p:sldLayoutId id="2147483675" r:id="rId7"/>
    <p:sldLayoutId id="2147483682" r:id="rId8"/>
    <p:sldLayoutId id="2147483680" r:id="rId9"/>
    <p:sldLayoutId id="2147483676" r:id="rId10"/>
    <p:sldLayoutId id="2147483683" r:id="rId11"/>
    <p:sldLayoutId id="2147483685" r:id="rId12"/>
    <p:sldLayoutId id="2147483686" r:id="rId13"/>
  </p:sldLayoutIdLst>
  <p:hf hdr="0" ftr="0" dt="0"/>
  <p:txStyles>
    <p:titleStyle>
      <a:lvl1pPr algn="l" defTabSz="1088291" rtl="0" eaLnBrk="1" latinLnBrk="0" hangingPunct="1">
        <a:spcBef>
          <a:spcPct val="0"/>
        </a:spcBef>
        <a:buNone/>
        <a:defRPr sz="3200" b="0" i="0" u="none" kern="1200">
          <a:solidFill>
            <a:schemeClr val="tx1">
              <a:lumMod val="75000"/>
              <a:lumOff val="25000"/>
            </a:schemeClr>
          </a:solidFill>
          <a:latin typeface="Adobe Clean Light" pitchFamily="34" charset="0"/>
          <a:ea typeface="+mj-ea"/>
          <a:cs typeface="+mj-cs"/>
        </a:defRPr>
      </a:lvl1pPr>
    </p:titleStyle>
    <p:bodyStyle>
      <a:lvl1pPr marL="274638" indent="-265113" algn="l" defTabSz="1088291" rtl="0" eaLnBrk="1" latinLnBrk="0" hangingPunct="1">
        <a:spcBef>
          <a:spcPts val="714"/>
        </a:spcBef>
        <a:buClr>
          <a:schemeClr val="bg1">
            <a:lumMod val="50000"/>
          </a:schemeClr>
        </a:buClr>
        <a:buSzPct val="70000"/>
        <a:buFont typeface="Wingdings" pitchFamily="2" charset="2"/>
        <a:buChar char="§"/>
        <a:defRPr sz="2400" kern="1200">
          <a:solidFill>
            <a:schemeClr val="tx1"/>
          </a:solidFill>
          <a:latin typeface="Adobe Clean Light" pitchFamily="34" charset="0"/>
          <a:ea typeface="+mn-ea"/>
          <a:cs typeface="+mn-cs"/>
        </a:defRPr>
      </a:lvl1pPr>
      <a:lvl2pPr marL="551703" indent="-275852" algn="l" defTabSz="1088291" rtl="0" eaLnBrk="1" latinLnBrk="0" hangingPunct="1">
        <a:spcBef>
          <a:spcPts val="714"/>
        </a:spcBef>
        <a:buClr>
          <a:schemeClr val="bg1">
            <a:lumMod val="50000"/>
          </a:schemeClr>
        </a:buClr>
        <a:buSzPct val="70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51979" indent="-200276" algn="l" defTabSz="1088291" rtl="0" eaLnBrk="1" latinLnBrk="0" hangingPunct="1">
        <a:spcBef>
          <a:spcPts val="714"/>
        </a:spcBef>
        <a:buClr>
          <a:schemeClr val="bg1">
            <a:lumMod val="50000"/>
          </a:schemeClr>
        </a:buClr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50366" indent="-198387" algn="l" defTabSz="1088291" rtl="0" eaLnBrk="1" latinLnBrk="0" hangingPunct="1">
        <a:spcBef>
          <a:spcPts val="714"/>
        </a:spcBef>
        <a:buClr>
          <a:schemeClr val="bg1">
            <a:lumMod val="50000"/>
          </a:schemeClr>
        </a:buClr>
        <a:buSzPct val="70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088291" indent="-137926" algn="l" defTabSz="1088291" rtl="0" eaLnBrk="1" latinLnBrk="0" hangingPunct="1">
        <a:spcBef>
          <a:spcPts val="714"/>
        </a:spcBef>
        <a:buClr>
          <a:schemeClr val="bg1">
            <a:lumMod val="50000"/>
          </a:schemeClr>
        </a:buClr>
        <a:buSzPct val="70000"/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2799" indent="-272073" algn="l" defTabSz="108829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6944" indent="-272073" algn="l" defTabSz="108829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1089" indent="-272073" algn="l" defTabSz="108829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5235" indent="-272073" algn="l" defTabSz="1088291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44145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88291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32436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76581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720726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264872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809017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353162" algn="l" defTabSz="1088291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source.adobe.com/aem-modernize-tool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ling.apache.org/documentation/bundles/content-distribution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iki.corp.adobe.com/display/DMSArchitecture/KT+-+AEM+Cloud+Service+-+Understanding+how+Publishing+Content+work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shdiscovery.corp.adobe.com/#/views/ReleaseOrchestratorOverview/Dashboard?:iid=1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jenkins-evergreen.bsl.eur.adobe.com/job/evergreen-skyline-release-orchestrator/" TargetMode="External"/><Relationship Id="rId4" Type="http://schemas.openxmlformats.org/officeDocument/2006/relationships/hyperlink" Target="https://dashdiscovery.corp.adobe.com/#/views/CloudManagerUsage/CICDDashboard?:iid=1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.corp.adobe.com/pages/experience-platform/self-service-hal-browser/#https://ssg.adobe.io/api/releases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dobe/aem-enablement/tree/master/AEMAsACloudService/11_CloudManager_AI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adobe/aio-cli-plugin-cloudmanager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plunk.or1.adobe.net/en-US/app/TA-aem_skyline/aem_log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experience.adobe.com/#/@aemsupport/cloud-manager/landing.html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xperience.adobe.com/#/@aemsupport/cloud-manager/landing.html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adobe.com/content/help/en/experience-manager-learn/cloud-service/local-development-environment-set-up/overview.html" TargetMode="External"/><Relationship Id="rId3" Type="http://schemas.openxmlformats.org/officeDocument/2006/relationships/hyperlink" Target="https://experience.adobe.com/#/downloads/content/software-distribution/en/aemcloud.html" TargetMode="External"/><Relationship Id="rId7" Type="http://schemas.openxmlformats.org/officeDocument/2006/relationships/hyperlink" Target="https://docs.adobe.com/content/help/en/experience-manager-cloud-service/implementing/developing/aem-as-a-cloud-service-sdk.html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experience.adobe.com/#/@aemsupport/cloud-manager/landing.html" TargetMode="External"/><Relationship Id="rId5" Type="http://schemas.openxmlformats.org/officeDocument/2006/relationships/hyperlink" Target="https://wiki.corp.adobe.com/display/WEM/Skyline+Sandbox+Environments+-+Getting+Started" TargetMode="External"/><Relationship Id="rId4" Type="http://schemas.openxmlformats.org/officeDocument/2006/relationships/hyperlink" Target="https://github.com/adobe/aem-enablement/tree/master/AEMAsACloudService/07_Cloud_Ready_Quickstart" TargetMode="Externa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experience.adobe.com/#/@aemsupport/cloud-manager/landing.html" TargetMode="External"/><Relationship Id="rId3" Type="http://schemas.openxmlformats.org/officeDocument/2006/relationships/hyperlink" Target="https://opensource.adobe.com/aem-modernize-tools/" TargetMode="External"/><Relationship Id="rId7" Type="http://schemas.openxmlformats.org/officeDocument/2006/relationships/hyperlink" Target="https://git.corp.adobe.com/asaar/6pager/blob/master/Bill-Visit-Feb18/AEM-Foundation-Cloud-Readiness.md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iki.corp.adobe.com/pages/viewpage.action?spaceKey=~boston&amp;title=AEM+in+the+Cloud+-+Architecture" TargetMode="External"/><Relationship Id="rId5" Type="http://schemas.openxmlformats.org/officeDocument/2006/relationships/hyperlink" Target="https://docs.adobe.com/content/help/en/experience-manager-learn/cloud-service/local-development-environment-set-up/overview.html" TargetMode="External"/><Relationship Id="rId4" Type="http://schemas.openxmlformats.org/officeDocument/2006/relationships/hyperlink" Target="https://wiki.corp.adobe.com/display/DMSArchitecture/KT+-+AEM+Cloud+Service+-+Understanding+how+Publishing+Content+work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41182" y="1463975"/>
            <a:ext cx="10918220" cy="492443"/>
          </a:xfrm>
        </p:spPr>
        <p:txBody>
          <a:bodyPr/>
          <a:lstStyle/>
          <a:p>
            <a:r>
              <a:rPr lang="en-US" dirty="0"/>
              <a:t>AEM as Cloud Service Overview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 vert="horz" wrap="square" lIns="0" tIns="0" rIns="0" bIns="0" rtlCol="0" anchor="t">
            <a:spAutoFit/>
          </a:bodyPr>
          <a:lstStyle/>
          <a:p>
            <a:r>
              <a:rPr lang="en-US" dirty="0">
                <a:latin typeface="Adobe Clean Light"/>
              </a:rPr>
              <a:t>Vishawdeep Dhaliwal</a:t>
            </a:r>
          </a:p>
        </p:txBody>
      </p:sp>
    </p:spTree>
    <p:extLst>
      <p:ext uri="{BB962C8B-B14F-4D97-AF65-F5344CB8AC3E}">
        <p14:creationId xmlns:p14="http://schemas.microsoft.com/office/powerpoint/2010/main" val="177897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2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pic>
        <p:nvPicPr>
          <p:cNvPr id="10" name="Content Placeholder 9" descr="A picture containing colorful, indoor, food, colored&#10;&#10;Description automatically generated">
            <a:extLst>
              <a:ext uri="{FF2B5EF4-FFF2-40B4-BE49-F238E27FC236}">
                <a16:creationId xmlns:a16="http://schemas.microsoft.com/office/drawing/2014/main" id="{C9E94D68-9492-4204-A2FB-08AB704718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7506" y="1119498"/>
            <a:ext cx="4879039" cy="4619004"/>
          </a:xfrm>
          <a:prstGeom prst="rect">
            <a:avLst/>
          </a:prstGeom>
          <a:solidFill>
            <a:srgbClr val="FFFFFF">
              <a:shade val="85000"/>
            </a:srgbClr>
          </a:solidFill>
          <a:ln w="101600" cap="sq">
            <a:solidFill>
              <a:srgbClr val="FDFDFD"/>
            </a:solidFill>
            <a:miter lim="800000"/>
          </a:ln>
          <a:effectLst>
            <a:outerShdw blurRad="57150" dist="37500" dir="7560000" sy="98000" kx="110000" ky="200000" algn="tl" rotWithShape="0">
              <a:srgbClr val="000000">
                <a:alpha val="20000"/>
              </a:srgbClr>
            </a:outerShdw>
          </a:effectLst>
          <a:scene3d>
            <a:camera prst="perspectiveRelaxed">
              <a:rot lat="20763249" lon="21290864" rev="374692"/>
            </a:camera>
            <a:lightRig rig="twoPt" dir="t">
              <a:rot lat="0" lon="0" rev="7200000"/>
            </a:lightRig>
          </a:scene3d>
          <a:sp3d prstMaterial="matte">
            <a:bevelT w="22860" h="1270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B81E4E9-83FA-4BB0-84EF-C65D17BFF5AF}"/>
              </a:ext>
            </a:extLst>
          </p:cNvPr>
          <p:cNvSpPr txBox="1"/>
          <p:nvPr/>
        </p:nvSpPr>
        <p:spPr>
          <a:xfrm>
            <a:off x="6602280" y="1119498"/>
            <a:ext cx="5211029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Top Features/Notable changes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custom </a:t>
            </a:r>
            <a:r>
              <a:rPr lang="en-US" dirty="0" err="1"/>
              <a:t>runmodes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 Classic UI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Storage in Cloud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Content Publishing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Built in CDN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Product Update/Release cycle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Release validator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Release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Troubleshooting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How to check Logs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Developer Console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Local Developer Setup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AEM Support Sandbox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7652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Custom </a:t>
            </a:r>
            <a:r>
              <a:rPr lang="en-US" dirty="0" err="1"/>
              <a:t>runmodes</a:t>
            </a:r>
            <a:r>
              <a:rPr lang="en-US" dirty="0"/>
              <a:t> are not allowed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Out of the box </a:t>
            </a:r>
            <a:r>
              <a:rPr lang="en-CA" dirty="0" err="1"/>
              <a:t>runmodes</a:t>
            </a:r>
            <a:r>
              <a:rPr lang="en-CA" dirty="0"/>
              <a:t> :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author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publish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prod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author.prod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publish.prod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author.stage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publish.stage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dev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author.dev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 err="1"/>
              <a:t>publish.dev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3056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CA" dirty="0"/>
              <a:t>No classic UI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2957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Classic UI is finally removed for AEM Cloud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No more </a:t>
            </a:r>
            <a:r>
              <a:rPr lang="en-CA" dirty="0" err="1"/>
              <a:t>ExtJS</a:t>
            </a:r>
            <a:r>
              <a:rPr lang="en-CA" dirty="0"/>
              <a:t> based editor (Sites &amp; Assets)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/>
              <a:t>No more </a:t>
            </a:r>
            <a:r>
              <a:rPr lang="en-CA" dirty="0" err="1"/>
              <a:t>ClientContext</a:t>
            </a:r>
            <a:r>
              <a:rPr lang="en-CA" dirty="0"/>
              <a:t> due to classic UI dependencies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50000"/>
              </a:lnSpc>
            </a:pPr>
            <a:endParaRPr lang="en-CA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CA" dirty="0"/>
          </a:p>
          <a:p>
            <a:pPr>
              <a:lnSpc>
                <a:spcPct val="150000"/>
              </a:lnSpc>
            </a:pPr>
            <a:r>
              <a:rPr lang="en-CA" sz="1600" dirty="0">
                <a:hlinkClick r:id="rId3"/>
              </a:rPr>
              <a:t>https://opensource.adobe.com/aem-modernize-tools/</a:t>
            </a: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4064535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CA" dirty="0"/>
              <a:t>Storage in Cloud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Shared Binary Storage via Azure </a:t>
            </a:r>
            <a:r>
              <a:rPr lang="en-CA" dirty="0" err="1"/>
              <a:t>Blobstore</a:t>
            </a:r>
            <a:r>
              <a:rPr lang="en-CA" dirty="0"/>
              <a:t> with Direct Binary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Author: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Cluster with Shared Document </a:t>
            </a:r>
            <a:r>
              <a:rPr lang="en-CA" dirty="0" err="1"/>
              <a:t>Nodestore</a:t>
            </a:r>
            <a:r>
              <a:rPr lang="en-CA" dirty="0"/>
              <a:t> (Mongo) continuous use across deployments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Publish: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Publish nodes with dispatcher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Azure segment Store</a:t>
            </a:r>
          </a:p>
          <a:p>
            <a:pPr lvl="1"/>
            <a:endParaRPr lang="en-CA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67C2B59B-E86F-954A-8A97-69939DF6C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018" y="3268983"/>
            <a:ext cx="5159053" cy="23508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941136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CA" dirty="0"/>
              <a:t>Golden publish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2" y="1022214"/>
            <a:ext cx="36968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Not accessed by any end user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SegmentNode</a:t>
            </a:r>
            <a:r>
              <a:rPr lang="en-US" dirty="0"/>
              <a:t> repository using Blob storage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 descr="A close up of a map&#10;&#10;Description automatically generated">
            <a:extLst>
              <a:ext uri="{FF2B5EF4-FFF2-40B4-BE49-F238E27FC236}">
                <a16:creationId xmlns:a16="http://schemas.microsoft.com/office/drawing/2014/main" id="{015C94C9-3237-1442-BEE8-AB122DB9A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5313" y="881232"/>
            <a:ext cx="6956061" cy="489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141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CA" dirty="0"/>
              <a:t>Content Publishing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Replication framework is no longer used.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Uses the </a:t>
            </a:r>
            <a:r>
              <a:rPr lang="en-CA" dirty="0">
                <a:hlinkClick r:id="rId3"/>
              </a:rPr>
              <a:t>Sling Content Distribution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Uses a pipeline service run on Adobe I/O, which is outside the AEM runtime.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Classic Replication UI removed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5CFCE0E4-CBB2-094C-8D9B-78D18900E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2009" y="2191765"/>
            <a:ext cx="6689128" cy="35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528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CA" dirty="0"/>
              <a:t>Content Publishing 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Tools &gt; Deployment &gt; Distribution : Select the card </a:t>
            </a:r>
            <a:r>
              <a:rPr lang="en-CA" dirty="0" err="1"/>
              <a:t>forwardPublisher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7" name="Picture 6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3B653AFE-2EA7-0B40-B49C-6424B94A4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280" y="1648503"/>
            <a:ext cx="7814949" cy="394551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4ACBE75-56EB-B841-977E-25DC3EFED0C1}"/>
              </a:ext>
            </a:extLst>
          </p:cNvPr>
          <p:cNvSpPr/>
          <p:nvPr/>
        </p:nvSpPr>
        <p:spPr>
          <a:xfrm>
            <a:off x="393880" y="5775719"/>
            <a:ext cx="1116574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1600" dirty="0">
                <a:hlinkClick r:id="rId4"/>
              </a:rPr>
              <a:t>https://wiki.corp.adobe.com/display/DMSArchitecture/KT+-+AEM+Cloud+Service+-+Understanding+how+Publishing+Content+works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14430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CA" dirty="0"/>
              <a:t>CDN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AEM Managed CDN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built-in CDN -&gt; Fastly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Automatically provisioned and configured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Managed by Adobe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Optimized by Adobe </a:t>
            </a:r>
          </a:p>
          <a:p>
            <a:pPr lvl="1"/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Customer Managed CDN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Customer is responsible for configuration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CA" dirty="0"/>
              <a:t>Customer’s CDN points to Adobe Managed CDN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80129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Product Update/Release cycle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Daily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Monthly feature releases</a:t>
            </a:r>
          </a:p>
          <a:p>
            <a:endParaRPr lang="en-US" b="1" dirty="0"/>
          </a:p>
          <a:p>
            <a:r>
              <a:rPr lang="en-US" b="1" dirty="0"/>
              <a:t>Release validator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Validate new releases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b="1" dirty="0"/>
              <a:t>Release Orchestrator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Service that handles upgrading of customers to a new AEM release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Rollback customers to a previous version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CA" b="1" dirty="0">
                <a:hlinkClick r:id="rId3"/>
              </a:rPr>
              <a:t>Dashboard:</a:t>
            </a:r>
          </a:p>
          <a:p>
            <a:r>
              <a:rPr lang="en-CA" dirty="0">
                <a:hlinkClick r:id="rId3"/>
              </a:rPr>
              <a:t>https://dashdiscovery.corp.adobe.com/#/views/ReleaseOrchestratorOverview/Dashboard?:iid=1</a:t>
            </a:r>
            <a:endParaRPr lang="en-US" dirty="0"/>
          </a:p>
          <a:p>
            <a:r>
              <a:rPr lang="en-CA" dirty="0">
                <a:hlinkClick r:id="rId4"/>
              </a:rPr>
              <a:t>https://dashdiscovery.corp.adobe.com/#/views/CloudManagerUsage/CICDDashboard?:iid=1</a:t>
            </a:r>
            <a:endParaRPr lang="en-CA" dirty="0"/>
          </a:p>
          <a:p>
            <a:endParaRPr lang="en-CA" b="1" dirty="0"/>
          </a:p>
          <a:p>
            <a:r>
              <a:rPr lang="en-CA" b="1" dirty="0"/>
              <a:t>Jenkins: </a:t>
            </a:r>
            <a:r>
              <a:rPr lang="en-CA" dirty="0">
                <a:hlinkClick r:id="rId5"/>
              </a:rPr>
              <a:t>https://jenkins-evergreen.bsl.eur.adobe.com/job/evergreen-skyline-release-orchestrator/</a:t>
            </a:r>
            <a:endParaRPr lang="en-CA" dirty="0"/>
          </a:p>
          <a:p>
            <a:br>
              <a:rPr lang="en-CA" dirty="0"/>
            </a:b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92413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11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Product Update/Release cycle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72102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Hal browser: </a:t>
            </a:r>
            <a:r>
              <a:rPr lang="en-CA" dirty="0">
                <a:hlinkClick r:id="rId3"/>
              </a:rPr>
              <a:t>https://git.corp.adobe.com/pages/experience-platform/self-service-hal-browser/#https://ssg.adobe.io/api/releases</a:t>
            </a:r>
            <a:br>
              <a:rPr lang="en-CA" dirty="0"/>
            </a:b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  <p:pic>
        <p:nvPicPr>
          <p:cNvPr id="8" name="Picture 7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2BC7D366-706C-EF4F-A707-0010E055F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802" y="1679901"/>
            <a:ext cx="9675453" cy="471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19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8302" y="1664272"/>
            <a:ext cx="10918220" cy="492443"/>
          </a:xfrm>
        </p:spPr>
        <p:txBody>
          <a:bodyPr/>
          <a:lstStyle/>
          <a:p>
            <a:r>
              <a:rPr lang="en-US" dirty="0"/>
              <a:t>Troubleshooting Issues in Cloud</a:t>
            </a:r>
          </a:p>
        </p:txBody>
      </p:sp>
    </p:spTree>
    <p:extLst>
      <p:ext uri="{BB962C8B-B14F-4D97-AF65-F5344CB8AC3E}">
        <p14:creationId xmlns:p14="http://schemas.microsoft.com/office/powerpoint/2010/main" val="2894287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13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Access Logs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Cloud Manager UI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Download logs - publish_aemerror_2020-05-03.log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A579CD7-EF65-6E40-BECF-303D8260C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66" y="2155276"/>
            <a:ext cx="5780546" cy="3434782"/>
          </a:xfrm>
          <a:prstGeom prst="rect">
            <a:avLst/>
          </a:prstGeom>
        </p:spPr>
      </p:pic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E26D4A-85D5-6847-AC5B-73C4A6962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3157" y="2155276"/>
            <a:ext cx="3872261" cy="3583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660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14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Access Logs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1657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CA" b="1" dirty="0"/>
              <a:t>Cloud Manager plugin for the Adobe I/O CLI</a:t>
            </a:r>
          </a:p>
          <a:p>
            <a:pPr fontAlgn="base"/>
            <a:endParaRPr lang="en-CA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Steps to setup CM plugin:</a:t>
            </a:r>
          </a:p>
          <a:p>
            <a:pPr fontAlgn="base"/>
            <a:r>
              <a:rPr lang="en-CA" sz="1600" dirty="0">
                <a:hlinkClick r:id="rId3"/>
              </a:rPr>
              <a:t>https://github.com/adobe/aem-enablement/tree/master/AEMAsACloudService/11_CloudManager_AIO</a:t>
            </a:r>
            <a:endParaRPr lang="en-CA" sz="1600" dirty="0"/>
          </a:p>
          <a:p>
            <a:pPr fontAlgn="base"/>
            <a:endParaRPr lang="en-CA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CA" dirty="0"/>
              <a:t>Execute commands</a:t>
            </a:r>
          </a:p>
          <a:p>
            <a:pPr fontAlgn="base"/>
            <a:r>
              <a:rPr lang="en-CA" sz="1600" dirty="0">
                <a:hlinkClick r:id="rId4"/>
              </a:rPr>
              <a:t>https://github.com/adobe/aio-cli-plugin-cloudmanager</a:t>
            </a:r>
            <a:r>
              <a:rPr lang="en-CA" sz="1600" dirty="0"/>
              <a:t> </a:t>
            </a:r>
          </a:p>
          <a:p>
            <a:pPr fontAlgn="base"/>
            <a:endParaRPr lang="en-CA" dirty="0"/>
          </a:p>
          <a:p>
            <a:pPr marL="285750" indent="-285750" fontAlgn="base">
              <a:buFont typeface="Wingdings" pitchFamily="2" charset="2"/>
              <a:buChar char="Ø"/>
            </a:pPr>
            <a:r>
              <a:rPr lang="en-CA" dirty="0" err="1"/>
              <a:t>aio</a:t>
            </a:r>
            <a:r>
              <a:rPr lang="en-CA" dirty="0"/>
              <a:t> </a:t>
            </a:r>
            <a:r>
              <a:rPr lang="en-CA" dirty="0" err="1"/>
              <a:t>cloudmanager:download-logs</a:t>
            </a:r>
            <a:r>
              <a:rPr lang="en-CA" dirty="0"/>
              <a:t> ENVIRONMENT_ID SERVICE NAME </a:t>
            </a:r>
          </a:p>
          <a:p>
            <a:pPr marL="285750" indent="-285750" fontAlgn="base">
              <a:buFont typeface="Wingdings" pitchFamily="2" charset="2"/>
              <a:buChar char="Ø"/>
            </a:pPr>
            <a:r>
              <a:rPr lang="en-CA" dirty="0" err="1"/>
              <a:t>aio</a:t>
            </a:r>
            <a:r>
              <a:rPr lang="en-CA" dirty="0"/>
              <a:t> </a:t>
            </a:r>
            <a:r>
              <a:rPr lang="en-CA" dirty="0" err="1"/>
              <a:t>cloudmanager:download-logs</a:t>
            </a:r>
            <a:r>
              <a:rPr lang="en-CA" dirty="0"/>
              <a:t> ENVIRONMENT_ID SERVICE NAME DAYS </a:t>
            </a:r>
          </a:p>
          <a:p>
            <a:pPr marL="285750" indent="-285750" fontAlgn="base">
              <a:buFont typeface="Wingdings" pitchFamily="2" charset="2"/>
              <a:buChar char="Ø"/>
            </a:pPr>
            <a:r>
              <a:rPr lang="en-CA" dirty="0" err="1"/>
              <a:t>aio</a:t>
            </a:r>
            <a:r>
              <a:rPr lang="en-CA" dirty="0"/>
              <a:t> </a:t>
            </a:r>
            <a:r>
              <a:rPr lang="en-CA" dirty="0" err="1"/>
              <a:t>cloudmanager:download-logs</a:t>
            </a:r>
            <a:r>
              <a:rPr lang="en-CA" dirty="0"/>
              <a:t> --</a:t>
            </a:r>
            <a:r>
              <a:rPr lang="en-CA" dirty="0" err="1"/>
              <a:t>programId</a:t>
            </a:r>
            <a:r>
              <a:rPr lang="en-CA" dirty="0"/>
              <a:t>=PROGRAM_ID ENVIRONMENT_ID SERVICE NAME DAYS </a:t>
            </a:r>
          </a:p>
          <a:p>
            <a:pPr marL="285750" indent="-285750" fontAlgn="base">
              <a:buFont typeface="Wingdings" pitchFamily="2" charset="2"/>
              <a:buChar char="Ø"/>
            </a:pPr>
            <a:r>
              <a:rPr lang="en-CA" dirty="0" err="1"/>
              <a:t>aio</a:t>
            </a:r>
            <a:r>
              <a:rPr lang="en-CA" dirty="0"/>
              <a:t> </a:t>
            </a:r>
            <a:r>
              <a:rPr lang="en-CA" dirty="0" err="1"/>
              <a:t>cloudmanager:tail-log</a:t>
            </a:r>
            <a:r>
              <a:rPr lang="en-CA" dirty="0"/>
              <a:t> ENVIRONMENT_ID SERVICE NAME </a:t>
            </a:r>
          </a:p>
          <a:p>
            <a:pPr marL="285750" indent="-285750" fontAlgn="base">
              <a:buFont typeface="Wingdings" pitchFamily="2" charset="2"/>
              <a:buChar char="Ø"/>
            </a:pPr>
            <a:r>
              <a:rPr lang="en-CA" dirty="0" err="1"/>
              <a:t>aio</a:t>
            </a:r>
            <a:r>
              <a:rPr lang="en-CA" dirty="0"/>
              <a:t> </a:t>
            </a:r>
            <a:r>
              <a:rPr lang="en-CA" dirty="0" err="1"/>
              <a:t>cloudmanager:tail-log</a:t>
            </a:r>
            <a:r>
              <a:rPr lang="en-CA" dirty="0"/>
              <a:t> --</a:t>
            </a:r>
            <a:r>
              <a:rPr lang="en-CA" dirty="0" err="1"/>
              <a:t>programId</a:t>
            </a:r>
            <a:r>
              <a:rPr lang="en-CA" dirty="0"/>
              <a:t>=PROGRAM_ID ENVIRONMENT_ID SERVICE NAME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endParaRPr lang="en-CA" dirty="0"/>
          </a:p>
          <a:p>
            <a:pPr fontAlgn="base"/>
            <a:r>
              <a:rPr lang="en-CA" dirty="0"/>
              <a:t>Example: </a:t>
            </a:r>
            <a:r>
              <a:rPr lang="en-CA" dirty="0" err="1"/>
              <a:t>aio</a:t>
            </a:r>
            <a:r>
              <a:rPr lang="en-CA" dirty="0"/>
              <a:t> </a:t>
            </a:r>
            <a:r>
              <a:rPr lang="en-CA" dirty="0" err="1"/>
              <a:t>cloudmanager:download-logs</a:t>
            </a:r>
            <a:r>
              <a:rPr lang="en-CA" dirty="0"/>
              <a:t> --</a:t>
            </a:r>
            <a:r>
              <a:rPr lang="en-CA" dirty="0" err="1"/>
              <a:t>programId</a:t>
            </a:r>
            <a:r>
              <a:rPr lang="en-CA" dirty="0"/>
              <a:t> 5 1884 author </a:t>
            </a:r>
            <a:r>
              <a:rPr lang="en-CA" dirty="0" err="1"/>
              <a:t>aemerror</a:t>
            </a: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lvl="1"/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145180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15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Access Logs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579384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b="1" dirty="0"/>
              <a:t>Using Splunk </a:t>
            </a:r>
          </a:p>
          <a:p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b="1" dirty="0"/>
              <a:t>Navigate to </a:t>
            </a:r>
            <a:r>
              <a:rPr lang="en-CA" dirty="0">
                <a:hlinkClick r:id="rId3"/>
              </a:rPr>
              <a:t>https://splunk.or1.adobe.net/en-US/app/TA-aem_skyline/aem_logs</a:t>
            </a:r>
            <a:endParaRPr lang="en-CA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Select the AEM Service name, for example cm-p12345-e0987, where P is </a:t>
            </a:r>
            <a:r>
              <a:rPr lang="en-CA" dirty="0" err="1"/>
              <a:t>ProgramID</a:t>
            </a:r>
            <a:r>
              <a:rPr lang="en-CA" dirty="0"/>
              <a:t> and E is Environment ID.</a:t>
            </a:r>
          </a:p>
          <a:p>
            <a:r>
              <a:rPr lang="en-CA" dirty="0"/>
              <a:t>       P and E values can be extracted from customer's instance URL.</a:t>
            </a:r>
          </a:p>
          <a:p>
            <a:endParaRPr lang="en-CA" b="1" dirty="0"/>
          </a:p>
          <a:p>
            <a:pPr fontAlgn="base"/>
            <a:r>
              <a:rPr lang="en-CA" dirty="0"/>
              <a:t>author-p&lt;id&gt;-e&lt;id&gt;.</a:t>
            </a:r>
            <a:r>
              <a:rPr lang="en-CA" dirty="0" err="1"/>
              <a:t>adobeaemcloud.com</a:t>
            </a:r>
            <a:endParaRPr lang="en-CA" dirty="0"/>
          </a:p>
          <a:p>
            <a:pPr fontAlgn="base"/>
            <a:r>
              <a:rPr lang="en-CA" dirty="0"/>
              <a:t>Publish-p&lt;id&gt;-e&lt;id&gt;.</a:t>
            </a:r>
            <a:r>
              <a:rPr lang="en-CA" dirty="0" err="1"/>
              <a:t>adobeaemcloud.com</a:t>
            </a:r>
            <a:endParaRPr lang="en-CA" dirty="0"/>
          </a:p>
          <a:p>
            <a:pPr fontAlgn="base"/>
            <a:endParaRPr lang="en-CA" dirty="0"/>
          </a:p>
          <a:p>
            <a:pPr fontAlgn="base"/>
            <a:r>
              <a:rPr lang="en-CA" dirty="0"/>
              <a:t>Example: https://author-p11206-e20221.adobeaemcloud.com/</a:t>
            </a:r>
          </a:p>
          <a:p>
            <a:pPr lvl="1"/>
            <a:endParaRPr lang="en-CA" b="1" dirty="0">
              <a:hlinkClick r:id="rId4"/>
            </a:endParaRPr>
          </a:p>
          <a:p>
            <a:pPr lvl="1"/>
            <a:endParaRPr lang="en-CA" dirty="0"/>
          </a:p>
          <a:p>
            <a:br>
              <a:rPr lang="en-CA" dirty="0"/>
            </a:b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53582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16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Developer Console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57938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Generate the state of bundles, components, OSGI configurations, oak indexes, OSGI services, and Sling jobs.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Resolve package dependencies and servlets.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Link to the Explain Query tool.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r>
              <a:rPr lang="en-CA" dirty="0">
                <a:hlinkClick r:id="rId3"/>
              </a:rPr>
              <a:t> </a:t>
            </a:r>
          </a:p>
          <a:p>
            <a:pPr lvl="1"/>
            <a:endParaRPr lang="en-CA" dirty="0"/>
          </a:p>
          <a:p>
            <a:br>
              <a:rPr lang="en-CA" dirty="0"/>
            </a:b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CA" dirty="0"/>
          </a:p>
          <a:p>
            <a:endParaRPr lang="en-CA" dirty="0"/>
          </a:p>
        </p:txBody>
      </p:sp>
      <p:pic>
        <p:nvPicPr>
          <p:cNvPr id="6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36214EAA-E32C-474B-A15E-3427EBF01A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937" y="1901973"/>
            <a:ext cx="5016989" cy="3774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7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17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Local Developer setup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579384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Local SDK currently based on QuickStart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Updates via maven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Download from Software distribution: </a:t>
            </a:r>
            <a:r>
              <a:rPr lang="en-CA" dirty="0">
                <a:hlinkClick r:id="rId3"/>
              </a:rPr>
              <a:t>https://experience.adobe.com/#/downloads/content/software-distribution/en/aemcloud.html</a:t>
            </a:r>
            <a:r>
              <a:rPr lang="en-CA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Steps: </a:t>
            </a:r>
            <a:r>
              <a:rPr lang="en-CA" dirty="0">
                <a:hlinkClick r:id="rId4"/>
              </a:rPr>
              <a:t>https://github.com/adobe/aem-enablement/tree/master/AEMAsACloudService/07_Cloud_Ready_Quickstart</a:t>
            </a:r>
            <a:endParaRPr lang="en-CA" dirty="0"/>
          </a:p>
          <a:p>
            <a:endParaRPr lang="en-CA" b="1" dirty="0"/>
          </a:p>
          <a:p>
            <a:r>
              <a:rPr lang="en-CA" b="1" dirty="0"/>
              <a:t>Support Sandbox</a:t>
            </a:r>
            <a:endParaRPr lang="en-CA" dirty="0">
              <a:hlinkClick r:id="rId5"/>
            </a:endParaRPr>
          </a:p>
          <a:p>
            <a:r>
              <a:rPr lang="en-CA" dirty="0">
                <a:hlinkClick r:id="rId6"/>
              </a:rPr>
              <a:t>https://experience.adobe.com/#/@aemsupport/cloud-manager/landing.html</a:t>
            </a:r>
            <a:br>
              <a:rPr lang="en-CA" dirty="0"/>
            </a:br>
            <a:endParaRPr lang="en-CA" dirty="0"/>
          </a:p>
          <a:p>
            <a:endParaRPr lang="en-CA" dirty="0">
              <a:hlinkClick r:id="rId5"/>
            </a:endParaRPr>
          </a:p>
          <a:p>
            <a:endParaRPr lang="en-CA" dirty="0">
              <a:hlinkClick r:id="rId5"/>
            </a:endParaRPr>
          </a:p>
          <a:p>
            <a:endParaRPr lang="en-CA" dirty="0">
              <a:hlinkClick r:id="rId5"/>
            </a:endParaRPr>
          </a:p>
          <a:p>
            <a:endParaRPr lang="en-CA" dirty="0">
              <a:hlinkClick r:id="rId5"/>
            </a:endParaRPr>
          </a:p>
          <a:p>
            <a:endParaRPr lang="en-CA" dirty="0">
              <a:hlinkClick r:id="rId5"/>
            </a:endParaRPr>
          </a:p>
          <a:p>
            <a:r>
              <a:rPr lang="en-CA" sz="1600" dirty="0">
                <a:hlinkClick r:id="rId5"/>
              </a:rPr>
              <a:t>https://wiki.corp.adobe.com/display/WEM/Skyline+Sandbox+Environments+-+Getting+Started</a:t>
            </a:r>
            <a:r>
              <a:rPr lang="en-CA" sz="1600" dirty="0"/>
              <a:t> </a:t>
            </a:r>
            <a:endParaRPr lang="en-CA" dirty="0">
              <a:hlinkClick r:id="rId6"/>
            </a:endParaRPr>
          </a:p>
          <a:p>
            <a:endParaRPr lang="en-CA" dirty="0">
              <a:hlinkClick r:id="rId6"/>
            </a:endParaRPr>
          </a:p>
          <a:p>
            <a:r>
              <a:rPr lang="en-CA" sz="1600" dirty="0">
                <a:hlinkClick r:id="rId7"/>
              </a:rPr>
              <a:t>https://docs.adobe.com/content/help/en/experience-manager-cloud-service/implementing/developing/aem-as-a-cloud-service-sdk.html</a:t>
            </a:r>
            <a:endParaRPr lang="en-CA" sz="1600" dirty="0"/>
          </a:p>
          <a:p>
            <a:endParaRPr lang="en-CA" sz="1600" dirty="0">
              <a:hlinkClick r:id="rId6"/>
            </a:endParaRPr>
          </a:p>
          <a:p>
            <a:r>
              <a:rPr lang="en-CA" sz="1600" dirty="0">
                <a:hlinkClick r:id="rId8"/>
              </a:rPr>
              <a:t>https://docs.adobe.com/content/help/en/experience-manager-learn/cloud-service/local-development-environment-set-up/overview.html</a:t>
            </a:r>
            <a:endParaRPr lang="en-CA" sz="1600" dirty="0">
              <a:hlinkClick r:id="rId6"/>
            </a:endParaRPr>
          </a:p>
        </p:txBody>
      </p:sp>
    </p:spTree>
    <p:extLst>
      <p:ext uri="{BB962C8B-B14F-4D97-AF65-F5344CB8AC3E}">
        <p14:creationId xmlns:p14="http://schemas.microsoft.com/office/powerpoint/2010/main" val="3768341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3984AD-C78B-4B00-A35D-3F9E27FA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90156F56-D5AE-4C6F-B826-C69D1BC521BB}" type="slidenum">
              <a:rPr lang="en-US" smtClean="0"/>
              <a:pPr algn="ctr"/>
              <a:t>18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C800C20-2551-4D8B-A7E3-3A7AA4478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21" y="287507"/>
            <a:ext cx="11579384" cy="593725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820C5D-0268-48EC-83E6-677E652AD63F}"/>
              </a:ext>
            </a:extLst>
          </p:cNvPr>
          <p:cNvSpPr txBox="1"/>
          <p:nvPr/>
        </p:nvSpPr>
        <p:spPr>
          <a:xfrm>
            <a:off x="3922611" y="2191765"/>
            <a:ext cx="138598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i="1" dirty="0">
                <a:solidFill>
                  <a:schemeClr val="bg1"/>
                </a:solidFill>
              </a:rPr>
              <a:t>9</a:t>
            </a:r>
          </a:p>
          <a:p>
            <a:pPr algn="ctr"/>
            <a:r>
              <a:rPr lang="en-US" sz="1000" i="1" dirty="0">
                <a:solidFill>
                  <a:schemeClr val="bg1"/>
                </a:solidFill>
              </a:rPr>
              <a:t>DX CRM Systems </a:t>
            </a:r>
          </a:p>
          <a:p>
            <a:pPr algn="ctr"/>
            <a:r>
              <a:rPr lang="en-US" sz="1000" b="1" i="1" dirty="0">
                <a:solidFill>
                  <a:schemeClr val="bg1"/>
                </a:solidFill>
              </a:rPr>
              <a:t>Now</a:t>
            </a:r>
            <a:endParaRPr lang="en-US" sz="200" b="1" i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DBBADF-AF91-2243-8E51-D355D197F5AE}"/>
              </a:ext>
            </a:extLst>
          </p:cNvPr>
          <p:cNvSpPr txBox="1"/>
          <p:nvPr/>
        </p:nvSpPr>
        <p:spPr>
          <a:xfrm>
            <a:off x="304721" y="1022214"/>
            <a:ext cx="1157938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600" dirty="0">
                <a:hlinkClick r:id="rId3"/>
              </a:rPr>
              <a:t>https://opensource.adobe.com/aem-modernize-tools/</a:t>
            </a:r>
            <a:endParaRPr lang="en-CA" sz="1600" dirty="0"/>
          </a:p>
          <a:p>
            <a:endParaRPr lang="en-CA" sz="1600" dirty="0"/>
          </a:p>
          <a:p>
            <a:r>
              <a:rPr lang="en-CA" sz="1600" dirty="0">
                <a:hlinkClick r:id="rId4"/>
              </a:rPr>
              <a:t>https://wiki.corp.adobe.com/display/DMSArchitecture/KT+-+AEM+Cloud+Service+-+Understanding+how+Publishing+Content+works</a:t>
            </a:r>
            <a:endParaRPr lang="en-US" sz="1600" dirty="0"/>
          </a:p>
          <a:p>
            <a:endParaRPr lang="en-CA" sz="1600" dirty="0">
              <a:hlinkClick r:id="rId5"/>
            </a:endParaRPr>
          </a:p>
          <a:p>
            <a:r>
              <a:rPr lang="en-CA" sz="1600" dirty="0">
                <a:hlinkClick r:id="rId6"/>
              </a:rPr>
              <a:t>https://wiki.corp.adobe.com/pages/viewpage.action?spaceKey=~boston&amp;title=AEM+in+the+Cloud+-+Architecture</a:t>
            </a:r>
            <a:endParaRPr lang="en-CA" sz="1600" dirty="0"/>
          </a:p>
          <a:p>
            <a:endParaRPr lang="en-CA" sz="1600" dirty="0">
              <a:hlinkClick r:id="rId5"/>
            </a:endParaRPr>
          </a:p>
          <a:p>
            <a:r>
              <a:rPr lang="en-CA" sz="1600" dirty="0">
                <a:hlinkClick r:id="rId7"/>
              </a:rPr>
              <a:t>https://git.corp.adobe.com/asaar/6pager/blob/master/Bill-Visit-Feb18/AEM-Foundation-Cloud-Readiness.md</a:t>
            </a:r>
            <a:endParaRPr lang="en-CA" sz="1600" dirty="0">
              <a:hlinkClick r:id="rId5"/>
            </a:endParaRPr>
          </a:p>
          <a:p>
            <a:endParaRPr lang="en-CA" sz="1600" dirty="0">
              <a:hlinkClick r:id="rId5"/>
            </a:endParaRPr>
          </a:p>
          <a:p>
            <a:r>
              <a:rPr lang="en-CA" sz="1600" dirty="0">
                <a:hlinkClick r:id="rId5"/>
              </a:rPr>
              <a:t>https://docs.adobe.com/content/help/en/experience-manager-learn/cloud-service/local-development-environment-set-up/overview.html</a:t>
            </a:r>
            <a:endParaRPr lang="en-CA" sz="1600" dirty="0"/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  <a:p>
            <a:endParaRPr lang="en-CA" sz="1600" dirty="0">
              <a:hlinkClick r:id="rId8"/>
            </a:endParaRPr>
          </a:p>
        </p:txBody>
      </p:sp>
    </p:spTree>
    <p:extLst>
      <p:ext uri="{BB962C8B-B14F-4D97-AF65-F5344CB8AC3E}">
        <p14:creationId xmlns:p14="http://schemas.microsoft.com/office/powerpoint/2010/main" val="704613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7618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10"/>
  <p:tag name="MMPROD_UIDATA" val="&lt;database version=&quot;10.0&quot;&gt;&lt;object type=&quot;1&quot; unique_id=&quot;10001&quot;&gt;&lt;object type=&quot;8&quot; unique_id=&quot;717709&quot;&gt;&lt;/object&gt;&lt;object type=&quot;2&quot; unique_id=&quot;717710&quot;&gt;&lt;object type=&quot;3&quot; unique_id=&quot;717712&quot;&gt;&lt;property id=&quot;20148&quot; value=&quot;5&quot;/&gt;&lt;property id=&quot;20300&quot; value=&quot;Slide 10 - &amp;quot;Section Divider&amp;quot;&quot;/&gt;&lt;property id=&quot;20307&quot; value=&quot;274&quot;/&gt;&lt;/object&gt;&lt;object type=&quot;3&quot; unique_id=&quot;717778&quot;&gt;&lt;property id=&quot;20148&quot; value=&quot;5&quot;/&gt;&lt;property id=&quot;20300&quot; value=&quot;Slide 1 - &amp;quot;Title Slide&amp;quot;&quot;/&gt;&lt;property id=&quot;20307&quot; value=&quot;273&quot;/&gt;&lt;/object&gt;&lt;object type=&quot;3&quot; unique_id=&quot;717779&quot;&gt;&lt;property id=&quot;20148&quot; value=&quot;5&quot;/&gt;&lt;property id=&quot;20300&quot; value=&quot;Slide 20&quot;/&gt;&lt;property id=&quot;20307&quot; value=&quot;278&quot;/&gt;&lt;/object&gt;&lt;object type=&quot;3&quot; unique_id=&quot;717900&quot;&gt;&lt;property id=&quot;20148&quot; value=&quot;5&quot;/&gt;&lt;property id=&quot;20300&quot; value=&quot;Slide 11 - &amp;quot;White Content Slide – Graphic Footer &amp;amp; Header&amp;quot;&quot;/&gt;&lt;property id=&quot;20307&quot; value=&quot;279&quot;/&gt;&lt;/object&gt;&lt;object type=&quot;3&quot; unique_id=&quot;717901&quot;&gt;&lt;property id=&quot;20148&quot; value=&quot;5&quot;/&gt;&lt;property id=&quot;20300&quot; value=&quot;Slide 18 - &amp;quot;Black Content Slide – Graphic Footer&amp;quot;&quot;/&gt;&lt;property id=&quot;20307&quot; value=&quot;283&quot;/&gt;&lt;/object&gt;&lt;object type=&quot;3&quot; unique_id=&quot;717902&quot;&gt;&lt;property id=&quot;20148&quot; value=&quot;5&quot;/&gt;&lt;property id=&quot;20300&quot; value=&quot;Slide 17 - &amp;quot;Black Content Slide – Graphic Footer &amp;amp; Header&amp;quot;&quot;/&gt;&lt;property id=&quot;20307&quot; value=&quot;284&quot;/&gt;&lt;/object&gt;&lt;object type=&quot;3&quot; unique_id=&quot;1709896&quot;&gt;&lt;property id=&quot;20148&quot; value=&quot;5&quot;/&gt;&lt;property id=&quot;20300&quot; value=&quot;Slide 2 - &amp;quot;Additional templates and more resources&amp;quot;&quot;/&gt;&lt;property id=&quot;20307&quot; value=&quot;292&quot;/&gt;&lt;/object&gt;&lt;object type=&quot;3&quot; unique_id=&quot;1709897&quot;&gt;&lt;property id=&quot;20148&quot; value=&quot;5&quot;/&gt;&lt;property id=&quot;20300&quot; value=&quot;Slide 3 - &amp;quot;How to save this as a template within PowerPoint&amp;quot;&quot;/&gt;&lt;property id=&quot;20307&quot; value=&quot;293&quot;/&gt;&lt;/object&gt;&lt;object type=&quot;3&quot; unique_id=&quot;1709898&quot;&gt;&lt;property id=&quot;20148&quot; value=&quot;5&quot;/&gt;&lt;property id=&quot;20300&quot; value=&quot;Slide 5 - &amp;quot;Using Footers and Page Numbers&amp;quot;&quot;/&gt;&lt;property id=&quot;20307&quot; value=&quot;294&quot;/&gt;&lt;/object&gt;&lt;object type=&quot;3&quot; unique_id=&quot;1709899&quot;&gt;&lt;property id=&quot;20148&quot; value=&quot;5&quot;/&gt;&lt;property id=&quot;20300&quot; value=&quot;Slide 12 - &amp;quot;White Content Slide – Graphic Footer&amp;quot;&quot;/&gt;&lt;property id=&quot;20307&quot; value=&quot;287&quot;/&gt;&lt;/object&gt;&lt;object type=&quot;3&quot; unique_id=&quot;1709900&quot;&gt;&lt;property id=&quot;20148&quot; value=&quot;5&quot;/&gt;&lt;property id=&quot;20300&quot; value=&quot;Slide 13 - &amp;quot;White Content Slide – No Graphic&amp;quot;&quot;/&gt;&lt;property id=&quot;20307&quot; value=&quot;288&quot;/&gt;&lt;/object&gt;&lt;object type=&quot;3&quot; unique_id=&quot;1709901&quot;&gt;&lt;property id=&quot;20148&quot; value=&quot;5&quot;/&gt;&lt;property id=&quot;20300&quot; value=&quot;Slide 14 - &amp;quot;Gray Content Slide – Graphic Footer &amp;amp; Header&amp;quot;&quot;/&gt;&lt;property id=&quot;20307&quot; value=&quot;289&quot;/&gt;&lt;/object&gt;&lt;object type=&quot;3&quot; unique_id=&quot;1709902&quot;&gt;&lt;property id=&quot;20148&quot; value=&quot;5&quot;/&gt;&lt;property id=&quot;20300&quot; value=&quot;Slide 15 - &amp;quot;Gray Content Slide – Graphic Footer&amp;quot;&quot;/&gt;&lt;property id=&quot;20307&quot; value=&quot;290&quot;/&gt;&lt;/object&gt;&lt;object type=&quot;3&quot; unique_id=&quot;1709903&quot;&gt;&lt;property id=&quot;20148&quot; value=&quot;5&quot;/&gt;&lt;property id=&quot;20300&quot; value=&quot;Slide 16 - &amp;quot;Gray Content Slide – No Graphic&amp;quot;&quot;/&gt;&lt;property id=&quot;20307&quot; value=&quot;291&quot;/&gt;&lt;/object&gt;&lt;object type=&quot;3&quot; unique_id=&quot;1709904&quot;&gt;&lt;property id=&quot;20148&quot; value=&quot;5&quot;/&gt;&lt;property id=&quot;20300&quot; value=&quot;Slide 19 - &amp;quot;Black Content Slide – No Graphic&amp;quot;&quot;/&gt;&lt;property id=&quot;20307&quot; value=&quot;286&quot;/&gt;&lt;/object&gt;&lt;object type=&quot;3&quot; unique_id=&quot;1709905&quot;&gt;&lt;property id=&quot;20148&quot; value=&quot;5&quot;/&gt;&lt;property id=&quot;20300&quot; value=&quot;Slide 21&quot;/&gt;&lt;property id=&quot;20307&quot; value=&quot;285&quot;/&gt;&lt;/object&gt;&lt;object type=&quot;3&quot; unique_id=&quot;1710038&quot;&gt;&lt;property id=&quot;20148&quot; value=&quot;5&quot;/&gt;&lt;property id=&quot;20300&quot; value=&quot;Slide 4 - &amp;quot;Slide layouts&amp;quot;&quot;/&gt;&lt;property id=&quot;20307&quot; value=&quot;298&quot;/&gt;&lt;/object&gt;&lt;object type=&quot;3&quot; unique_id=&quot;1710039&quot;&gt;&lt;property id=&quot;20148&quot; value=&quot;5&quot;/&gt;&lt;property id=&quot;20300&quot; value=&quot;Slide 6 - &amp;quot;Converting old presentations to this template&amp;quot;&quot;/&gt;&lt;property id=&quot;20307&quot; value=&quot;295&quot;/&gt;&lt;/object&gt;&lt;object type=&quot;3&quot; unique_id=&quot;1710040&quot;&gt;&lt;property id=&quot;20148&quot; value=&quot;5&quot;/&gt;&lt;property id=&quot;20300&quot; value=&quot;Slide 7 - &amp;quot;Bar charts&amp;quot;&quot;/&gt;&lt;property id=&quot;20307&quot; value=&quot;296&quot;/&gt;&lt;/object&gt;&lt;object type=&quot;3&quot; unique_id=&quot;1710041&quot;&gt;&lt;property id=&quot;20148&quot; value=&quot;5&quot;/&gt;&lt;property id=&quot;20300&quot; value=&quot;Slide 8 - &amp;quot;Pie charts&amp;quot;&quot;/&gt;&lt;property id=&quot;20307&quot; value=&quot;297&quot;/&gt;&lt;/object&gt;&lt;object type=&quot;3&quot; unique_id=&quot;1710042&quot;&gt;&lt;property id=&quot;20148&quot; value=&quot;5&quot;/&gt;&lt;property id=&quot;20300&quot; value=&quot;Slide 9 - &amp;quot;Color palette&amp;quot;&quot;/&gt;&lt;property id=&quot;20307&quot; value=&quot;299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Adobe Master - S&amp;W - 2018">
  <a:themeElements>
    <a:clrScheme name="Adobe 2009">
      <a:dk1>
        <a:srgbClr val="000000"/>
      </a:dk1>
      <a:lt1>
        <a:sysClr val="window" lastClr="FFFFFF"/>
      </a:lt1>
      <a:dk2>
        <a:srgbClr val="6B737B"/>
      </a:dk2>
      <a:lt2>
        <a:srgbClr val="DADDE0"/>
      </a:lt2>
      <a:accent1>
        <a:srgbClr val="C1D82F"/>
      </a:accent1>
      <a:accent2>
        <a:srgbClr val="00A4E4"/>
      </a:accent2>
      <a:accent3>
        <a:srgbClr val="8348B5"/>
      </a:accent3>
      <a:accent4>
        <a:srgbClr val="FBB034"/>
      </a:accent4>
      <a:accent5>
        <a:srgbClr val="FFDD00"/>
      </a:accent5>
      <a:accent6>
        <a:srgbClr val="FF0000"/>
      </a:accent6>
      <a:hlink>
        <a:srgbClr val="000000"/>
      </a:hlink>
      <a:folHlink>
        <a:srgbClr val="3F3F3F"/>
      </a:folHlink>
    </a:clrScheme>
    <a:fontScheme name="Adobe Clean 2009">
      <a:majorFont>
        <a:latin typeface="Adobe Clean"/>
        <a:ea typeface=""/>
        <a:cs typeface=""/>
      </a:majorFont>
      <a:minorFont>
        <a:latin typeface="Adobe Clean"/>
        <a:ea typeface=""/>
        <a:cs typeface="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4EE6857526A35478468ACD5F518A50B" ma:contentTypeVersion="2" ma:contentTypeDescription="Create a new document." ma:contentTypeScope="" ma:versionID="0a11a9d66dcd884a1970c254c025fa96">
  <xsd:schema xmlns:xsd="http://www.w3.org/2001/XMLSchema" xmlns:xs="http://www.w3.org/2001/XMLSchema" xmlns:p="http://schemas.microsoft.com/office/2006/metadata/properties" xmlns:ns2="30d212e6-63c0-4402-bae2-28ab33c9d0ad" targetNamespace="http://schemas.microsoft.com/office/2006/metadata/properties" ma:root="true" ma:fieldsID="f9fbf6035f9a09e097bcd2a414c11771" ns2:_="">
    <xsd:import namespace="30d212e6-63c0-4402-bae2-28ab33c9d0a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212e6-63c0-4402-bae2-28ab33c9d0a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603C37-8612-4CF2-A427-1314524CA7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0B0A9AC-B249-44F5-9901-495E22395863}">
  <ds:schemaRefs>
    <ds:schemaRef ds:uri="30d212e6-63c0-4402-bae2-28ab33c9d0a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1C680F1-5C19-46E8-B60A-268842FA2AF8}">
  <ds:schemaRefs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dcmitype/"/>
    <ds:schemaRef ds:uri="http://purl.org/dc/elements/1.1/"/>
    <ds:schemaRef ds:uri="http://schemas.microsoft.com/office/infopath/2007/PartnerControls"/>
    <ds:schemaRef ds:uri="30d212e6-63c0-4402-bae2-28ab33c9d0a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13583</TotalTime>
  <Words>1059</Words>
  <Application>Microsoft Macintosh PowerPoint</Application>
  <PresentationFormat>Custom</PresentationFormat>
  <Paragraphs>283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Adobe Clean</vt:lpstr>
      <vt:lpstr>Adobe Clean Light</vt:lpstr>
      <vt:lpstr>Arial</vt:lpstr>
      <vt:lpstr>Calibri</vt:lpstr>
      <vt:lpstr>Wingdings</vt:lpstr>
      <vt:lpstr>Adobe Master - S&amp;W - 2018</vt:lpstr>
      <vt:lpstr>AEM as Cloud Service Overview</vt:lpstr>
      <vt:lpstr>Contents</vt:lpstr>
      <vt:lpstr>Custom runmodes are not allowed</vt:lpstr>
      <vt:lpstr>No classic UI</vt:lpstr>
      <vt:lpstr>Storage in Cloud</vt:lpstr>
      <vt:lpstr>Golden publish</vt:lpstr>
      <vt:lpstr>Content Publishing process</vt:lpstr>
      <vt:lpstr>Content Publishing process</vt:lpstr>
      <vt:lpstr>CDN</vt:lpstr>
      <vt:lpstr>Product Update/Release cycle</vt:lpstr>
      <vt:lpstr>Product Update/Release cycle</vt:lpstr>
      <vt:lpstr>Troubleshooting Issues in Cloud</vt:lpstr>
      <vt:lpstr>Access Logs</vt:lpstr>
      <vt:lpstr>Access Logs</vt:lpstr>
      <vt:lpstr>Access Logs</vt:lpstr>
      <vt:lpstr>Developer Console</vt:lpstr>
      <vt:lpstr>Local Developer setup</vt:lpstr>
      <vt:lpstr>References</vt:lpstr>
      <vt:lpstr>PowerPoint Presentation</vt:lpstr>
    </vt:vector>
  </TitlesOfParts>
  <Company>Adobe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creator>Dorothy Lawrence</dc:creator>
  <cp:lastModifiedBy>Vishawdeep Kaur Dhaliwal</cp:lastModifiedBy>
  <cp:revision>68</cp:revision>
  <dcterms:created xsi:type="dcterms:W3CDTF">2009-08-20T18:55:32Z</dcterms:created>
  <dcterms:modified xsi:type="dcterms:W3CDTF">2020-06-12T19:38:10Z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0x01010044EE6857526A35478468ACD5F518A50B</vt:lpwstr>
  </property>
  <property fmtid="{D5CDD505-2E9C-101B-9397-08002B2CF9AE}" pid="3" name="Order">
    <vt:r8>3500</vt:r8>
  </property>
  <property fmtid="{D5CDD505-2E9C-101B-9397-08002B2CF9AE}" pid="4" name="ComplianceAssetId">
    <vt:lpwstr/>
  </property>
</Properties>
</file>